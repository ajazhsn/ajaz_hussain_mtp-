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188720"/>
            <a:ext cx="4114800" cy="41148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754880"/>
            <a:ext cx="3291840" cy="329184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965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WORKED NUMERICAL WALKTHROUGH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the Transformer Encoder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14400" y="352044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three items through positional encoding, multi-head attention,</a:t>
            </a:r>
            <a:endParaRPr lang="en-US" sz="1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normalization, and the feed-forward block — by hand, step by step.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595360" y="4160520"/>
          <a:ext cx="2651760" cy="1371600"/>
        </p:xfrm>
        <a:graphic>
          <a:graphicData uri="http://schemas.openxmlformats.org/drawingml/2006/table">
            <a:tbl>
              <a:tblPr/>
              <a:tblGrid>
                <a:gridCol w="662940"/>
                <a:gridCol w="662940"/>
                <a:gridCol w="662940"/>
                <a:gridCol w="662940"/>
              </a:tblGrid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B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B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B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8595360" y="55778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X — 3 items × 4 features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329184" cy="32918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347472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Setup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105156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items, four features each, stacked into matrix </a:t>
            </a:r>
            <a:pPr indent="0" marL="0">
              <a:lnSpc>
                <a:spcPct val="120000"/>
              </a:lnSpc>
              <a:buNone/>
            </a:pPr>
            <a:r>
              <a:rPr lang="en-US" sz="1500" b="1" i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(3 rows × 4 columns).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187452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of the encoder: </a:t>
            </a:r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each row so it also carries information about the other items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same shape out, richer numbers.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14400" y="3063240"/>
            <a:ext cx="6035040" cy="3017520"/>
          </a:xfrm>
          <a:prstGeom prst="roundRect">
            <a:avLst>
              <a:gd name="adj" fmla="val 2424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188720" y="3246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Matrix X</a:t>
            </a:r>
            <a:endParaRPr lang="en-US" sz="1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88720" y="3703320"/>
          <a:ext cx="5486400" cy="210312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097280"/>
                <a:gridCol w="1097280"/>
                <a:gridCol w="1097280"/>
              </a:tblGrid>
              <a:tr h="5257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 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 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 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7269480" y="1051560"/>
            <a:ext cx="4023360" cy="5029200"/>
          </a:xfrm>
          <a:prstGeom prst="roundRect">
            <a:avLst>
              <a:gd name="adj" fmla="val 181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7000" dist="38100" dir="5400000">
              <a:srgbClr val="000000">
                <a:alpha val="1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589520" y="12801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Matrix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7589520" y="1828800"/>
            <a:ext cx="33832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 </a:t>
            </a:r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one item</a:t>
            </a:r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column 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one feature</a:t>
            </a:r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layers transform this grid, layer after layer, without changing its shape — only the meaning of the numbers inside it.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Encoder — A Worked Example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329184" cy="32918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347472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 — Add Positional Information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109728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encoder sees all items at once, so it has no innate sense of order. A small position vector </a:t>
            </a:r>
            <a:pPr indent="0" marL="0">
              <a:lnSpc>
                <a:spcPct val="120000"/>
              </a:lnSpc>
              <a:buNone/>
            </a:pPr>
            <a:r>
              <a:rPr lang="en-US" sz="1500" b="1" i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added to each row, giving 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X + P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14400" y="1920240"/>
            <a:ext cx="3246120" cy="3383280"/>
          </a:xfrm>
          <a:prstGeom prst="roundRect">
            <a:avLst>
              <a:gd name="adj" fmla="val 2254"/>
            </a:avLst>
          </a:prstGeom>
          <a:solidFill>
            <a:srgbClr val="F7F9FD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97280" y="21031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17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43000" y="2606040"/>
          <a:ext cx="2788920" cy="2377440"/>
        </p:xfrm>
        <a:graphic>
          <a:graphicData uri="http://schemas.openxmlformats.org/drawingml/2006/table">
            <a:tbl>
              <a:tblPr/>
              <a:tblGrid>
                <a:gridCol w="697230"/>
                <a:gridCol w="697230"/>
                <a:gridCol w="697230"/>
                <a:gridCol w="697230"/>
              </a:tblGrid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178808" y="3337560"/>
            <a:ext cx="283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7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4480560" y="1920240"/>
            <a:ext cx="3246120" cy="3383280"/>
          </a:xfrm>
          <a:prstGeom prst="roundRect">
            <a:avLst>
              <a:gd name="adj" fmla="val 2254"/>
            </a:avLst>
          </a:prstGeom>
          <a:solidFill>
            <a:srgbClr val="F7F9FD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663440" y="21031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7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2606040"/>
          <a:ext cx="2788920" cy="2377440"/>
        </p:xfrm>
        <a:graphic>
          <a:graphicData uri="http://schemas.openxmlformats.org/drawingml/2006/table">
            <a:tbl>
              <a:tblPr/>
              <a:tblGrid>
                <a:gridCol w="697230"/>
                <a:gridCol w="697230"/>
                <a:gridCol w="697230"/>
                <a:gridCol w="697230"/>
              </a:tblGrid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</a:tr>
            </a:tbl>
          </a:graphicData>
        </a:graphic>
      </p:graphicFrame>
      <p:sp>
        <p:nvSpPr>
          <p:cNvPr id="13" name="Text 9"/>
          <p:cNvSpPr/>
          <p:nvPr/>
        </p:nvSpPr>
        <p:spPr>
          <a:xfrm>
            <a:off x="7744968" y="3337560"/>
            <a:ext cx="283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7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2400" dirty="0"/>
          </a:p>
        </p:txBody>
      </p:sp>
      <p:sp>
        <p:nvSpPr>
          <p:cNvPr id="14" name="Shape 10"/>
          <p:cNvSpPr/>
          <p:nvPr/>
        </p:nvSpPr>
        <p:spPr>
          <a:xfrm>
            <a:off x="8046720" y="1920240"/>
            <a:ext cx="3246120" cy="3383280"/>
          </a:xfrm>
          <a:prstGeom prst="roundRect">
            <a:avLst>
              <a:gd name="adj" fmla="val 2254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8229600" y="21031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 = X + P</a:t>
            </a:r>
            <a:endParaRPr lang="en-US" sz="1700" dirty="0"/>
          </a:p>
        </p:txBody>
      </p:sp>
      <p:graphicFrame>
        <p:nvGraphicFramePr>
          <p:cNvPr id="1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75320" y="2606040"/>
          <a:ext cx="2788920" cy="2377440"/>
        </p:xfrm>
        <a:graphic>
          <a:graphicData uri="http://schemas.openxmlformats.org/drawingml/2006/table">
            <a:tbl>
              <a:tblPr/>
              <a:tblGrid>
                <a:gridCol w="697230"/>
                <a:gridCol w="697230"/>
                <a:gridCol w="697230"/>
                <a:gridCol w="697230"/>
              </a:tblGrid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</a:tr>
            </a:tbl>
          </a:graphicData>
        </a:graphic>
      </p:graphicFrame>
      <p:sp>
        <p:nvSpPr>
          <p:cNvPr id="17" name="Text 12"/>
          <p:cNvSpPr/>
          <p:nvPr/>
        </p:nvSpPr>
        <p:spPr>
          <a:xfrm>
            <a:off x="914400" y="548640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two cells change: item 2's f3 (1→2) and item 3's f4 (1→2), highlighted above. Z is what flows forward into the encoder.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Encoder — A Worked Example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329184" cy="32918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347472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 — Make Queries, Keys &amp; Values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10515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Z we build three matrices via learned weights W</a:t>
            </a:r>
            <a:pPr indent="0" marL="0">
              <a:buNone/>
            </a:pPr>
            <a:r>
              <a:rPr lang="en-US" sz="1500" baseline="-4000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pPr indent="0" marL="0">
              <a:buNone/>
            </a:pPr>
            <a:r>
              <a:rPr lang="en-US" sz="150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</a:t>
            </a:r>
            <a:pPr indent="0" marL="0">
              <a:buNone/>
            </a:pPr>
            <a:r>
              <a:rPr lang="en-US" sz="1500" baseline="-4000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pPr indent="0" marL="0">
              <a:buNone/>
            </a:pPr>
            <a:r>
              <a:rPr lang="en-US" sz="150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</a:t>
            </a:r>
            <a:pPr indent="0" marL="0">
              <a:buNone/>
            </a:pPr>
            <a:r>
              <a:rPr lang="en-US" sz="1500" baseline="-4000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pPr indent="0" marL="0">
              <a:buNone/>
            </a:pPr>
            <a:r>
              <a:rPr lang="en-US" sz="150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Each row of the result asks a different question: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14400" y="169164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EEF3FC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43000" y="18745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828800" y="1874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828800" y="221284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am I looking for?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34840" y="169164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EEF3FC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8745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349240" y="1874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349240" y="221284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I advertise?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955280" y="169164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EEF3FC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83880" y="18745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818388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869680" y="1874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869680" y="221284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I actually pass on?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342900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keep the arithmetic clean, this walkthrough takes those weights as the </a:t>
            </a:r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so Q = K = V = Z. In a real model the three differ, which is exactly what lets the model learn distinct roles.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337560" y="4160520"/>
            <a:ext cx="5486400" cy="2103120"/>
          </a:xfrm>
          <a:prstGeom prst="roundRect">
            <a:avLst>
              <a:gd name="adj" fmla="val 347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611880" y="43159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 = K = V = Z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11880" y="4709160"/>
          <a:ext cx="4937760" cy="1417320"/>
        </p:xfrm>
        <a:graphic>
          <a:graphicData uri="http://schemas.openxmlformats.org/drawingml/2006/table">
            <a:tbl>
              <a:tblPr/>
              <a:tblGrid>
                <a:gridCol w="1234440"/>
                <a:gridCol w="1234440"/>
                <a:gridCol w="1234440"/>
                <a:gridCol w="1234440"/>
              </a:tblGrid>
              <a:tr h="35433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B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B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B"/>
                    </a:solidFill>
                  </a:tcPr>
                </a:tc>
              </a:tr>
            </a:tbl>
          </a:graphicData>
        </a:graphic>
      </p:graphicFrame>
      <p:sp>
        <p:nvSpPr>
          <p:cNvPr id="25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Encoder — A Worked Example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329184" cy="32918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347472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 — Score How Items Relate (Head 1)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105156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 dimensions split into 2 heads of 2 dims each. For Head 1, each item is just 2 numbers. Compute </a:t>
            </a:r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= Q · Kᵀ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entry (i, j) is the dot product of item i's query with item j's key.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 1 slice (d1, d2)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286000"/>
          <a:ext cx="3017520" cy="192024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  <a:gridCol w="1005840"/>
              </a:tblGrid>
              <a:tr h="4800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 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 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 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069080" y="283464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7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4846320" y="1920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Scores = Q · Kᵀ</a:t>
            </a:r>
            <a:endParaRPr lang="en-US" sz="15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2286000"/>
          <a:ext cx="4023360" cy="192024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  <a:gridCol w="1005840"/>
                <a:gridCol w="1005840"/>
              </a:tblGrid>
              <a:tr h="4800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 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 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 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9189720" y="1965960"/>
            <a:ext cx="2148840" cy="3931920"/>
          </a:xfrm>
          <a:prstGeom prst="roundRect">
            <a:avLst>
              <a:gd name="adj" fmla="val 3404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9372600" y="21488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moment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9372600" y="251460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grid is where items first “see” each other.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9372600" y="3977640"/>
            <a:ext cx="1783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3 scores 8 with itself — it has the largest slice.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914400" y="4434840"/>
            <a:ext cx="8092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example: entry (1,3) = item 1's slice (2,0) · item 3's slice (2,2) = 2×2 + 0×2 = 4. The diagonal is each item scored against itself.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Encoder — A Worked Example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329184" cy="32918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347472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4 — Scale, Then Softmax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105156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operations turn raw scores into clean attention weights: divide by </a:t>
            </a:r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√dₖ = √2 ≈ 1.41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stop large dot products from dominating, then apply softmax to each row so it becomes positive and sums to 1.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Scaled scores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331720"/>
          <a:ext cx="3474720" cy="1920240"/>
        </p:xfrm>
        <a:graphic>
          <a:graphicData uri="http://schemas.openxmlformats.org/drawingml/2006/table">
            <a:tbl>
              <a:tblPr/>
              <a:tblGrid>
                <a:gridCol w="868680"/>
                <a:gridCol w="868680"/>
                <a:gridCol w="868680"/>
                <a:gridCol w="868680"/>
              </a:tblGrid>
              <a:tr h="4800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 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 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617720" y="2834640"/>
            <a:ext cx="1051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softmax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C9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row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43600" y="1965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Attention weights (A)</a:t>
            </a:r>
            <a:endParaRPr lang="en-US" sz="15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2331720"/>
          <a:ext cx="3840480" cy="1920240"/>
        </p:xfrm>
        <a:graphic>
          <a:graphicData uri="http://schemas.openxmlformats.org/drawingml/2006/table">
            <a:tbl>
              <a:tblPr/>
              <a:tblGrid>
                <a:gridCol w="960120"/>
                <a:gridCol w="960120"/>
                <a:gridCol w="960120"/>
                <a:gridCol w="960120"/>
              </a:tblGrid>
              <a:tr h="4800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 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 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914400" y="4572000"/>
            <a:ext cx="8869680" cy="1417320"/>
          </a:xfrm>
          <a:prstGeom prst="roundRect">
            <a:avLst>
              <a:gd name="adj" fmla="val 5161"/>
            </a:avLst>
          </a:prstGeom>
          <a:solidFill>
            <a:srgbClr val="EEF3FC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1143000" y="4736592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row 3: 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3 mostly attends to itself (0.89), the largest weight in its row. Items 1 and 2 each split attention evenly between themselves and item 3 — these row-wise weights are the </a:t>
            </a:r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weights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decide how much of each item flows into the next step.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Encoder — A Worked Example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329184" cy="32918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347472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5 — Blend the Values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105156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attention weights </a:t>
            </a:r>
            <a:pPr indent="0" marL="0">
              <a:lnSpc>
                <a:spcPct val="120000"/>
              </a:lnSpc>
              <a:buNone/>
            </a:pPr>
            <a:r>
              <a:rPr lang="en-US" sz="1450" b="1" i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by the value slice </a:t>
            </a:r>
            <a:pPr indent="0" marL="0">
              <a:lnSpc>
                <a:spcPct val="120000"/>
              </a:lnSpc>
              <a:buNone/>
            </a:pPr>
            <a:r>
              <a:rPr lang="en-US" sz="1450" b="1" i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(Head 1). Each item's new vector becomes a weighted average of everyone's values.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(weights)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286000"/>
          <a:ext cx="2743200" cy="178308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914400"/>
              </a:tblGrid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3703320" y="274320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7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297680" y="19202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 slice</a:t>
            </a:r>
            <a:endParaRPr lang="en-US" sz="14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97680" y="2286000"/>
          <a:ext cx="2011680" cy="178308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</a:tblGrid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6400800" y="274320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7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6995160" y="19202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 1 output</a:t>
            </a:r>
            <a:endParaRPr lang="en-US" sz="1400" dirty="0"/>
          </a:p>
        </p:txBody>
      </p:sp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95160" y="2286000"/>
          <a:ext cx="2743200" cy="178308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</a:tblGrid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B"/>
                    </a:solidFill>
                  </a:tcPr>
                </a:tc>
              </a:tr>
            </a:tbl>
          </a:graphicData>
        </a:graphic>
      </p:graphicFrame>
      <p:sp>
        <p:nvSpPr>
          <p:cNvPr id="14" name="Shape 9"/>
          <p:cNvSpPr/>
          <p:nvPr/>
        </p:nvSpPr>
        <p:spPr>
          <a:xfrm>
            <a:off x="914400" y="4297680"/>
            <a:ext cx="8869680" cy="1691640"/>
          </a:xfrm>
          <a:prstGeom prst="roundRect">
            <a:avLst>
              <a:gd name="adj" fmla="val 4324"/>
            </a:avLst>
          </a:prstGeom>
          <a:solidFill>
            <a:srgbClr val="EEF3FC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Text 10"/>
          <p:cNvSpPr/>
          <p:nvPr/>
        </p:nvSpPr>
        <p:spPr>
          <a:xfrm>
            <a:off x="1143000" y="44805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1 worked out:  </a:t>
            </a:r>
            <a:pPr indent="0" marL="0">
              <a:buNone/>
            </a:pPr>
            <a:r>
              <a:rPr lang="en-US" sz="140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0.49·(2,0) + 0.03·(0,2) + 0.49·(2,2) = (1.94, 1.03)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143000" y="498348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1 has now absorbed item 3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its numbers reflect a neighbor it originally had nothing to do with. This is the mechanism of context.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Encoder — A Worked Example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329184" cy="32918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347472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6 — Second Head, Then Combine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105156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2 repeats Steps 3–5 on columns 3–4, learning a </a:t>
            </a:r>
            <a:pPr indent="0" marL="0">
              <a:lnSpc>
                <a:spcPct val="120000"/>
              </a:lnSpc>
              <a:buNone/>
            </a:pPr>
            <a:r>
              <a:rPr lang="en-US" sz="145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attention pattern. Concatenating both heads rebuilds a full 3×4 matrix.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914400" y="18745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 2 output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240280"/>
          <a:ext cx="2743200" cy="178308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</a:tblGrid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3794760" y="2651760"/>
            <a:ext cx="1051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9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C9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H1 →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029200" y="18745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Concatenated (Head 1 | Head 2)</a:t>
            </a:r>
            <a:endParaRPr lang="en-US" sz="15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2240280"/>
          <a:ext cx="5394960" cy="1783080"/>
        </p:xfrm>
        <a:graphic>
          <a:graphicData uri="http://schemas.openxmlformats.org/drawingml/2006/table">
            <a:tbl>
              <a:tblPr/>
              <a:tblGrid>
                <a:gridCol w="1078992"/>
                <a:gridCol w="1078992"/>
                <a:gridCol w="1078992"/>
                <a:gridCol w="1078992"/>
                <a:gridCol w="1078992"/>
              </a:tblGrid>
              <a:tr h="4457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H1-a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H1-b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H2-a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H2-b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B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B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B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914400" y="4297680"/>
            <a:ext cx="9509760" cy="1691640"/>
          </a:xfrm>
          <a:prstGeom prst="roundRect">
            <a:avLst>
              <a:gd name="adj" fmla="val 4324"/>
            </a:avLst>
          </a:prstGeom>
          <a:solidFill>
            <a:srgbClr val="EEF3FC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1143000" y="4526280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multiply by output weight W</a:t>
            </a:r>
            <a:pPr indent="0" marL="0">
              <a:lnSpc>
                <a:spcPct val="125000"/>
              </a:lnSpc>
              <a:buNone/>
            </a:pPr>
            <a:r>
              <a:rPr lang="en-US" sz="1400" baseline="-4000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(identity here, so numbers pass through unchanged) to mix information across heads. Call the result </a:t>
            </a:r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MultiHead(Z)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143000" y="5166360"/>
            <a:ext cx="9052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heads let the model track several different relationships between items at once — not just one.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Encoder — A Worked Example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329184" cy="32918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347472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7 — Add &amp; Norm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10515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stabilizers finish the attention block: a residual connection, then layer normalization.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914400" y="1691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Residual: MultiHead(Z) + Z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057400"/>
          <a:ext cx="2743200" cy="1508760"/>
        </p:xfrm>
        <a:graphic>
          <a:graphicData uri="http://schemas.openxmlformats.org/drawingml/2006/table">
            <a:tbl>
              <a:tblPr/>
              <a:tblGrid>
                <a:gridCol w="685800"/>
                <a:gridCol w="685800"/>
                <a:gridCol w="685800"/>
                <a:gridCol w="6858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3703320" y="237744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7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2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06240" y="2057400"/>
          <a:ext cx="2743200" cy="1508760"/>
        </p:xfrm>
        <a:graphic>
          <a:graphicData uri="http://schemas.openxmlformats.org/drawingml/2006/table">
            <a:tbl>
              <a:tblPr/>
              <a:tblGrid>
                <a:gridCol w="685800"/>
                <a:gridCol w="685800"/>
                <a:gridCol w="685800"/>
                <a:gridCol w="6858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6995160" y="237744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7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2200" dirty="0"/>
          </a:p>
        </p:txBody>
      </p:sp>
      <p:graphicFrame>
        <p:nvGraphicFramePr>
          <p:cNvPr id="28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0" y="2057400"/>
          <a:ext cx="3291840" cy="1508760"/>
        </p:xfrm>
        <a:graphic>
          <a:graphicData uri="http://schemas.openxmlformats.org/drawingml/2006/table">
            <a:tbl>
              <a:tblPr/>
              <a:tblGrid>
                <a:gridCol w="822960"/>
                <a:gridCol w="822960"/>
                <a:gridCol w="822960"/>
                <a:gridCol w="82296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B"/>
                    </a:solidFill>
                  </a:tcPr>
                </a:tc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914400" y="3794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LayerNorm: rescale each row to mean ≈ 0, comparable spread</a:t>
            </a:r>
            <a:endParaRPr lang="en-US" sz="1500" dirty="0"/>
          </a:p>
        </p:txBody>
      </p:sp>
      <p:graphicFrame>
        <p:nvGraphicFramePr>
          <p:cNvPr id="3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4160520"/>
          <a:ext cx="5486400" cy="150876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-0.64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-1.17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-0.70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-1.73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B"/>
                    </a:solidFill>
                  </a:tcPr>
                </a:tc>
              </a:tr>
            </a:tbl>
          </a:graphicData>
        </a:graphic>
      </p:graphicFrame>
      <p:sp>
        <p:nvSpPr>
          <p:cNvPr id="14" name="Shape 8"/>
          <p:cNvSpPr/>
          <p:nvPr/>
        </p:nvSpPr>
        <p:spPr>
          <a:xfrm>
            <a:off x="6766560" y="416052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EEF3FC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Text 9"/>
          <p:cNvSpPr/>
          <p:nvPr/>
        </p:nvSpPr>
        <p:spPr>
          <a:xfrm>
            <a:off x="6995160" y="4315968"/>
            <a:ext cx="3566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training stable by preventing values from drifting to extreme scales as they pass through many stacked layers.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Encoder — A Worked Example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329184" cy="32918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347472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8 — Feed-Forward Network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10515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network polishes </a:t>
            </a:r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 on its own</a:t>
            </a:r>
            <a:pPr indent="0" marL="0">
              <a:buNone/>
            </a:pPr>
            <a:r>
              <a:rPr lang="en-US" sz="145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 mixing between items. Two linear layers with a ReLU in between: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914400" y="1600200"/>
            <a:ext cx="10332720" cy="640080"/>
          </a:xfrm>
          <a:prstGeom prst="roundRect">
            <a:avLst>
              <a:gd name="adj" fmla="val 8571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0020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FFN(x) = max(0, x·W1 + b1)·W2 + b2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514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Tracing item 1's row through the network: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4400" y="3017520"/>
            <a:ext cx="3246120" cy="1508760"/>
          </a:xfrm>
          <a:prstGeom prst="roundRect">
            <a:avLst>
              <a:gd name="adj" fmla="val 4848"/>
            </a:avLst>
          </a:prstGeom>
          <a:solidFill>
            <a:srgbClr val="EEF3FC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97280" y="3127248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(after LayerNorm)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370332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B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[1.44, -0.64, 0.37, -1.17]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78808" y="3017520"/>
            <a:ext cx="25603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7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434840" y="3017520"/>
            <a:ext cx="3246120" cy="1508760"/>
          </a:xfrm>
          <a:prstGeom prst="roundRect">
            <a:avLst>
              <a:gd name="adj" fmla="val 4848"/>
            </a:avLst>
          </a:prstGeom>
          <a:solidFill>
            <a:srgbClr val="CADCFC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17720" y="3127248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W1 + ReLU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17720" y="370332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B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[0.27, 0, 0.37, 1.44]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699248" y="3017520"/>
            <a:ext cx="25603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7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955280" y="3017520"/>
            <a:ext cx="3246120" cy="1508760"/>
          </a:xfrm>
          <a:prstGeom prst="roundRect">
            <a:avLst>
              <a:gd name="adj" fmla="val 4848"/>
            </a:avLst>
          </a:prstGeom>
          <a:solidFill>
            <a:srgbClr val="EEF3FC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138160" y="3127248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W2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138160" y="370332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B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[0.27, 0, 0.37, 1.44]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14400" y="4800600"/>
            <a:ext cx="10332720" cy="1188720"/>
          </a:xfrm>
          <a:prstGeom prst="roundRect">
            <a:avLst>
              <a:gd name="adj" fmla="val 6154"/>
            </a:avLst>
          </a:prstGeom>
          <a:solidFill>
            <a:srgbClr val="EEF3FC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143000" y="4983480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−0.64 got clipped to 0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by ReLU — that's the non-linearity that lets the network learn more than a straight line. Its own residual connection and another LayerNorm follow, exactly as in Step 7.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Encoder — A Worked Example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329184" cy="32918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347472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Result — One Encoder Layer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10515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3×4 shape in and out, but every row now encodes its item together with the context of the others.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280160" y="1828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(X)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80160" y="2194560"/>
          <a:ext cx="3840480" cy="1920240"/>
        </p:xfrm>
        <a:graphic>
          <a:graphicData uri="http://schemas.openxmlformats.org/drawingml/2006/table">
            <a:tbl>
              <a:tblPr/>
              <a:tblGrid>
                <a:gridCol w="960120"/>
                <a:gridCol w="960120"/>
                <a:gridCol w="960120"/>
                <a:gridCol w="960120"/>
              </a:tblGrid>
              <a:tr h="4800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532120" y="2743200"/>
            <a:ext cx="1005840" cy="10058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6"/>
          <p:cNvSpPr/>
          <p:nvPr/>
        </p:nvSpPr>
        <p:spPr>
          <a:xfrm>
            <a:off x="5532120" y="2743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6766560" y="1828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 one encoder layer</a:t>
            </a:r>
            <a:endParaRPr lang="en-US" sz="16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6560" y="2194560"/>
          <a:ext cx="4206240" cy="1920240"/>
        </p:xfrm>
        <a:graphic>
          <a:graphicData uri="http://schemas.openxmlformats.org/drawingml/2006/table">
            <a:tbl>
              <a:tblPr/>
              <a:tblGrid>
                <a:gridCol w="1051560"/>
                <a:gridCol w="1051560"/>
                <a:gridCol w="1051560"/>
                <a:gridCol w="1051560"/>
              </a:tblGrid>
              <a:tr h="4800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B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-0.70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B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-1.73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B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1280160" y="4526280"/>
            <a:ext cx="9692640" cy="1463040"/>
          </a:xfrm>
          <a:prstGeom prst="roundRect">
            <a:avLst>
              <a:gd name="adj" fmla="val 5000"/>
            </a:avLst>
          </a:prstGeom>
          <a:solidFill>
            <a:srgbClr val="EEF3FC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1508760" y="4754880"/>
            <a:ext cx="9235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encoders stack several such layers</a:t>
            </a:r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this output becomes the next layer's input, deepening the shared context each time the data passes through.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Encoder — A Worked Example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3840480" cy="384048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206240"/>
            <a:ext cx="3474720" cy="347472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4" name="Text 2"/>
          <p:cNvSpPr/>
          <p:nvPr/>
        </p:nvSpPr>
        <p:spPr>
          <a:xfrm>
            <a:off x="1188720" y="1463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LINE TO REMEMBER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88720" y="192024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 — Q·Kᵀ — </a:t>
            </a:r>
            <a:pPr algn="l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where items first interact.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188720" y="306324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before it just prepares the numbers; everything after carries that shared context into the final vectors.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188720" y="4160520"/>
            <a:ext cx="1481328" cy="502920"/>
          </a:xfrm>
          <a:prstGeom prst="roundRect">
            <a:avLst>
              <a:gd name="adj" fmla="val 50909"/>
            </a:avLst>
          </a:prstGeom>
          <a:solidFill>
            <a:srgbClr val="2A3373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4160520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79776" y="4160520"/>
            <a:ext cx="1481328" cy="502920"/>
          </a:xfrm>
          <a:prstGeom prst="roundRect">
            <a:avLst>
              <a:gd name="adj" fmla="val 50909"/>
            </a:avLst>
          </a:prstGeom>
          <a:solidFill>
            <a:srgbClr val="2A3373"/>
          </a:solidFill>
          <a:ln/>
        </p:spPr>
      </p:sp>
      <p:sp>
        <p:nvSpPr>
          <p:cNvPr id="10" name="Text 8"/>
          <p:cNvSpPr/>
          <p:nvPr/>
        </p:nvSpPr>
        <p:spPr>
          <a:xfrm>
            <a:off x="2779776" y="4160520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/ K / V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70832" y="4160520"/>
            <a:ext cx="1481328" cy="502920"/>
          </a:xfrm>
          <a:prstGeom prst="roundRect">
            <a:avLst>
              <a:gd name="adj" fmla="val 50909"/>
            </a:avLst>
          </a:prstGeom>
          <a:solidFill>
            <a:srgbClr val="C97B2E"/>
          </a:solidFill>
          <a:ln/>
        </p:spPr>
      </p:sp>
      <p:sp>
        <p:nvSpPr>
          <p:cNvPr id="12" name="Text 10"/>
          <p:cNvSpPr/>
          <p:nvPr/>
        </p:nvSpPr>
        <p:spPr>
          <a:xfrm>
            <a:off x="4370832" y="4160520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61888" y="4160520"/>
            <a:ext cx="1481328" cy="502920"/>
          </a:xfrm>
          <a:prstGeom prst="roundRect">
            <a:avLst>
              <a:gd name="adj" fmla="val 50909"/>
            </a:avLst>
          </a:prstGeom>
          <a:solidFill>
            <a:srgbClr val="2A3373"/>
          </a:solidFill>
          <a:ln/>
        </p:spPr>
      </p:sp>
      <p:sp>
        <p:nvSpPr>
          <p:cNvPr id="14" name="Text 12"/>
          <p:cNvSpPr/>
          <p:nvPr/>
        </p:nvSpPr>
        <p:spPr>
          <a:xfrm>
            <a:off x="5961888" y="4160520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552944" y="4160520"/>
            <a:ext cx="1481328" cy="502920"/>
          </a:xfrm>
          <a:prstGeom prst="roundRect">
            <a:avLst>
              <a:gd name="adj" fmla="val 50909"/>
            </a:avLst>
          </a:prstGeom>
          <a:solidFill>
            <a:srgbClr val="2A3373"/>
          </a:solidFill>
          <a:ln/>
        </p:spPr>
      </p:sp>
      <p:sp>
        <p:nvSpPr>
          <p:cNvPr id="16" name="Text 14"/>
          <p:cNvSpPr/>
          <p:nvPr/>
        </p:nvSpPr>
        <p:spPr>
          <a:xfrm>
            <a:off x="7552944" y="4160520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 values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188720" y="4828032"/>
            <a:ext cx="1481328" cy="502920"/>
          </a:xfrm>
          <a:prstGeom prst="roundRect">
            <a:avLst>
              <a:gd name="adj" fmla="val 50909"/>
            </a:avLst>
          </a:prstGeom>
          <a:solidFill>
            <a:srgbClr val="2A3373"/>
          </a:solidFill>
          <a:ln/>
        </p:spPr>
      </p:sp>
      <p:sp>
        <p:nvSpPr>
          <p:cNvPr id="18" name="Text 16"/>
          <p:cNvSpPr/>
          <p:nvPr/>
        </p:nvSpPr>
        <p:spPr>
          <a:xfrm>
            <a:off x="1188720" y="4828032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Multi-head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79776" y="4828032"/>
            <a:ext cx="1481328" cy="502920"/>
          </a:xfrm>
          <a:prstGeom prst="roundRect">
            <a:avLst>
              <a:gd name="adj" fmla="val 50909"/>
            </a:avLst>
          </a:prstGeom>
          <a:solidFill>
            <a:srgbClr val="2A3373"/>
          </a:solidFill>
          <a:ln/>
        </p:spPr>
      </p:sp>
      <p:sp>
        <p:nvSpPr>
          <p:cNvPr id="20" name="Text 18"/>
          <p:cNvSpPr/>
          <p:nvPr/>
        </p:nvSpPr>
        <p:spPr>
          <a:xfrm>
            <a:off x="2779776" y="4828032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&amp; Norm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370832" y="4828032"/>
            <a:ext cx="1481328" cy="502920"/>
          </a:xfrm>
          <a:prstGeom prst="roundRect">
            <a:avLst>
              <a:gd name="adj" fmla="val 50909"/>
            </a:avLst>
          </a:prstGeom>
          <a:solidFill>
            <a:srgbClr val="2A3373"/>
          </a:solidFill>
          <a:ln/>
        </p:spPr>
      </p:sp>
      <p:sp>
        <p:nvSpPr>
          <p:cNvPr id="22" name="Text 20"/>
          <p:cNvSpPr/>
          <p:nvPr/>
        </p:nvSpPr>
        <p:spPr>
          <a:xfrm>
            <a:off x="4370832" y="4828032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Feed-forward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Encoder — A Worked Example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Inside the Transformer Encoder</dc:title>
  <dc:subject>PptxGenJS Presentation</dc:subject>
  <dc:creator>Claude</dc:creator>
  <cp:lastModifiedBy>Claude</cp:lastModifiedBy>
  <cp:revision>1</cp:revision>
  <dcterms:created xsi:type="dcterms:W3CDTF">2026-07-06T06:59:15Z</dcterms:created>
  <dcterms:modified xsi:type="dcterms:W3CDTF">2026-07-06T06:59:15Z</dcterms:modified>
</cp:coreProperties>
</file>