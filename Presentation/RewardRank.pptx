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DBEAFE">
              <a:alpha val="55000"/>
            </a:srgbClr>
          </a:solidFill>
          <a:ln w="12700">
            <a:solidFill>
              <a:srgbClr val="DBEAFE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RewardRank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True Learning-to-Rank Utility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4572000" cy="45720"/>
          </a:xfrm>
          <a:prstGeom prst="rect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93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Bhatt  ·  Thekumparampil  ·  Gangwani  ·  Xiao  ·  Sigal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UBC  ·  Amazon  ·  Vector Institute     arXiv: 2508.14180v2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816352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Presented by:  </a:t>
            </a:r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Ajaz Hussain  (DA25M006)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MTP Presentation  ·  IIT Madras  ·  Supervisor: Prof. Suryanarayana Sankagiri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2697480"/>
            <a:ext cx="804672" cy="1005840"/>
          </a:xfrm>
          <a:prstGeom prst="roundRect">
            <a:avLst>
              <a:gd name="adj" fmla="val 11364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7614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3D4"/>
                </a:solidFill>
              </a:rPr>
              <a:t>2 Stages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Reward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+ Ranker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88352" y="2697480"/>
            <a:ext cx="804672" cy="1005840"/>
          </a:xfrm>
          <a:prstGeom prst="roundRect">
            <a:avLst>
              <a:gd name="adj" fmla="val 11364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88352" y="27614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SoftSort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88352" y="301752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Differentiable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Sorting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84464" y="2697480"/>
            <a:ext cx="804672" cy="1005840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84464" y="27614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New SOTA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84464" y="301752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Baidu-ULTR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DCG@10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587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Problem  →  Related Work  →  Formulation  →  Stage 1: Reward Model  →  Stage 2: SoftSort  →  Evaluation  →  Results  →  Conclusion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Traditional Ranking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4297680" cy="1783080"/>
          </a:xfrm>
          <a:prstGeom prst="roundRect">
            <a:avLst>
              <a:gd name="adj" fmla="val 5128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31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</a:rPr>
              <a:t>The Core Gap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1024128"/>
            <a:ext cx="3931920" cy="13716"/>
          </a:xfrm>
          <a:prstGeom prst="rect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6984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LTR optimizes NDCG — a proxy metric.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NDCG does NOT guarantee more clicks or purchases.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learns to reconstruct the past. It cannot discover better unseen arrangements.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224528" cy="1783080"/>
          </a:xfrm>
          <a:prstGeom prst="roundRect">
            <a:avLst>
              <a:gd name="adj" fmla="val 5128"/>
            </a:avLst>
          </a:prstGeom>
          <a:solidFill>
            <a:srgbClr val="F3E5F5"/>
          </a:solidFill>
          <a:ln w="1524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731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</a:rPr>
              <a:t>Behavioral Biases NDCG Ignores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64608" y="1024128"/>
            <a:ext cx="3886200" cy="13716"/>
          </a:xfrm>
          <a:prstGeom prst="rect">
            <a:avLst/>
          </a:prstGeom>
          <a:solidFill>
            <a:srgbClr val="6A1B9A">
              <a:alpha val="45000"/>
            </a:srgbClr>
          </a:solidFill>
          <a:ln w="12700">
            <a:solidFill>
              <a:srgbClr val="6A1B9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69848"/>
            <a:ext cx="3886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bias  —  top slots get far more attention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bias  —  same brand repeated -&gt; disengagement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aversion  —  identical items kill interest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effect  —  a weaker item boosts a neighbor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bias  —  visual monotony reduces purchases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532888"/>
            <a:ext cx="8705088" cy="1005840"/>
          </a:xfrm>
          <a:prstGeom prst="roundRect">
            <a:avLst>
              <a:gd name="adj" fmla="val 9091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5968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The Counterfactual Problem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889504"/>
            <a:ext cx="8321040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260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L=8 items  -&gt;  8! = 40,320 possible arrangements.  Logged data observes only 1.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arrangement may be in the 40,319 unobserved ones. NDCG can never reach 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639312"/>
            <a:ext cx="8705088" cy="91440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703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</a:rPr>
              <a:t>What RewardRank Changes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986784"/>
            <a:ext cx="8321040" cy="13716"/>
          </a:xfrm>
          <a:prstGeom prst="rect">
            <a:avLst/>
          </a:prstGeom>
          <a:solidFill>
            <a:srgbClr val="00695C">
              <a:alpha val="45000"/>
            </a:srgbClr>
          </a:solidFill>
          <a:ln w="12700">
            <a:solidFill>
              <a:srgbClr val="00695C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02336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</a:rPr>
              <a:t>Traditional: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Logged data  -&gt;  optimize NDCG  -&gt;  deploy   (learns to copy the past)
</a:t>
            </a:r>
            <a:pPr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RewardRank: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Logged data  -&gt;  learn reward model  -&gt;  optimize true utility  -&gt;  deploy   (reasons about unseen arrangements)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The Research Landscape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4315968" cy="1883664"/>
          </a:xfrm>
          <a:prstGeom prst="roundRect">
            <a:avLst>
              <a:gd name="adj" fmla="val 4854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749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73D4"/>
                </a:solidFill>
              </a:rPr>
              <a:t>1.  Traditional LTR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3192" y="1042416"/>
            <a:ext cx="3977640" cy="13716"/>
          </a:xfrm>
          <a:prstGeom prst="rect">
            <a:avLst/>
          </a:prstGeom>
          <a:solidFill>
            <a:srgbClr val="3B73D4">
              <a:alpha val="45000"/>
            </a:srgbClr>
          </a:solidFill>
          <a:ln w="12700">
            <a:solidFill>
              <a:srgbClr val="3B73D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15568"/>
            <a:ext cx="3977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· Pairwise · Listwise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RankNet, LambdaMART, ListNet, PiRank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All optimize NDCG — not true user utility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658368"/>
            <a:ext cx="4315968" cy="1883664"/>
          </a:xfrm>
          <a:prstGeom prst="roundRect">
            <a:avLst>
              <a:gd name="adj" fmla="val 4854"/>
            </a:avLst>
          </a:prstGeom>
          <a:solidFill>
            <a:srgbClr val="F3E5F5"/>
          </a:solidFill>
          <a:ln w="1524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73752" y="749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</a:rPr>
              <a:t>2.  Counterfactual LTR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73752" y="1042416"/>
            <a:ext cx="3977640" cy="13716"/>
          </a:xfrm>
          <a:prstGeom prst="rect">
            <a:avLst/>
          </a:prstGeom>
          <a:solidFill>
            <a:srgbClr val="6A1B9A">
              <a:alpha val="45000"/>
            </a:srgbClr>
          </a:solidFill>
          <a:ln w="12700">
            <a:solidFill>
              <a:srgbClr val="6A1B9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115568"/>
            <a:ext cx="3977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Doubly-robust, Trust-bias correction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position bias in logged feedback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Still optimizes proxy metrics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651760"/>
            <a:ext cx="4315968" cy="1883664"/>
          </a:xfrm>
          <a:prstGeom prst="roundRect">
            <a:avLst>
              <a:gd name="adj" fmla="val 4854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" y="27432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3.  Utility-Oriented Reranking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3035808"/>
            <a:ext cx="3977640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108960"/>
            <a:ext cx="3977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URCC, NLGR, PRS, PIER — generator-evaluator setup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arrangements near logged rankings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Local search only; no learned reward model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315968" cy="1883664"/>
          </a:xfrm>
          <a:prstGeom prst="roundRect">
            <a:avLst>
              <a:gd name="adj" fmla="val 4854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73752" y="27432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</a:rPr>
              <a:t>4.  Differentiable Ranking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3752" y="3035808"/>
            <a:ext cx="3977640" cy="13716"/>
          </a:xfrm>
          <a:prstGeom prst="rect">
            <a:avLst/>
          </a:prstGeom>
          <a:solidFill>
            <a:srgbClr val="00695C">
              <a:alpha val="45000"/>
            </a:srgbClr>
          </a:solidFill>
          <a:ln w="12700">
            <a:solidFill>
              <a:srgbClr val="00695C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108960"/>
            <a:ext cx="397764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ApproxNDCG, NeuralSort, SoftSort, PiRank, PG-Rank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sorting operation differentiable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RewardRank borrows SoftSort from this neighbourhood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645152"/>
            <a:ext cx="8705088" cy="347472"/>
          </a:xfrm>
          <a:prstGeom prst="roundRect">
            <a:avLst>
              <a:gd name="adj" fmla="val 26316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4681728"/>
            <a:ext cx="8394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RewardRank  =  Right objective (box 3)  +  Learned reward from data  +  SoftSort (box 4)  +  No pretrained ranker needed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Formulation: Utility Maximization vs. Sorting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705088" cy="896112"/>
          </a:xfrm>
          <a:prstGeom prst="roundRect">
            <a:avLst>
              <a:gd name="adj" fmla="val 10204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73D4"/>
                </a:solidFill>
              </a:rPr>
              <a:t>True Objective (Equation 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996696"/>
            <a:ext cx="8321040" cy="13716"/>
          </a:xfrm>
          <a:prstGeom prst="rect">
            <a:avLst/>
          </a:prstGeom>
          <a:solidFill>
            <a:srgbClr val="3B73D4">
              <a:alpha val="45000"/>
            </a:srgbClr>
          </a:solidFill>
          <a:ln w="12700">
            <a:solidFill>
              <a:srgbClr val="3B73D4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f* = argmax_f   E_(q,{xl})~P  [  U(q, {xl},  pi = f(q, {xl})) 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084832" cy="804672"/>
          </a:xfrm>
          <a:prstGeom prst="roundRect">
            <a:avLst>
              <a:gd name="adj" fmla="val 11364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73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0116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Ranking policy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-&gt; produces one arrangement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1664208"/>
            <a:ext cx="2084832" cy="804672"/>
          </a:xfrm>
          <a:prstGeom prst="roundRect">
            <a:avLst>
              <a:gd name="adj" fmla="val 11364"/>
            </a:avLst>
          </a:prstGeom>
          <a:solidFill>
            <a:srgbClr val="F3E5F5"/>
          </a:solidFill>
          <a:ln w="1524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0116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Permutation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-&gt; one specific ordering of items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664208"/>
            <a:ext cx="2084832" cy="804672"/>
          </a:xfrm>
          <a:prstGeom prst="roundRect">
            <a:avLst>
              <a:gd name="adj" fmla="val 11364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U(q,{xl},pi)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0116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True utility — HIDDEN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-&gt; click or purchase probability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664208"/>
            <a:ext cx="2084832" cy="804672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E[...]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Expectation over 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query groups drawn from 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578608"/>
            <a:ext cx="4315968" cy="1719072"/>
          </a:xfrm>
          <a:prstGeom prst="roundRect">
            <a:avLst>
              <a:gd name="adj" fmla="val 5319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6517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</a:rPr>
              <a:t>NDCG — The Proxy  (Equation 2)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2944368"/>
            <a:ext cx="3977640" cy="13716"/>
          </a:xfrm>
          <a:prstGeom prst="rect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99232"/>
            <a:ext cx="3977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NDCG(pi, {yl}) = DCG(pi) / DCG(pi*)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DCG(r, {yl}) = SUM_l  (2^yl - 1) / log2(1 + position_l)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Gain per item discounted by its position.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Maximized when items sorted in descending order of yl.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578608"/>
            <a:ext cx="4224528" cy="1719072"/>
          </a:xfrm>
          <a:prstGeom prst="roundRect">
            <a:avLst>
              <a:gd name="adj" fmla="val 5319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2651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Why NDCG Falls Short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64608" y="2944368"/>
            <a:ext cx="3886200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99232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 labels come from ONE logged arrangement.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arrangement might produce completely different click behavior.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cannot account for this — it treats logged labels as ground truth and optimizes to reproduce the past.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407408"/>
            <a:ext cx="8705088" cy="384048"/>
          </a:xfrm>
          <a:prstGeom prst="roundRect">
            <a:avLst>
              <a:gd name="adj" fmla="val 23810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4453128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</a:rPr>
              <a:t>Two core challenges:  (1) U is unobservable — only noisy 0/1 click outcomes seen   (2) Most arrangements are counterfactual — never shown to any user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Learning the Reward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4892040" cy="4279392"/>
          </a:xfrm>
          <a:prstGeom prst="roundRect">
            <a:avLst>
              <a:gd name="adj" fmla="val 2137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22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Reward Model Architecture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572000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6070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D2E3FC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6070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[q, x1]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[q, x2]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...[q, xL]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19656" y="11887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1060704"/>
            <a:ext cx="1280160" cy="530352"/>
          </a:xfrm>
          <a:prstGeom prst="roundRect">
            <a:avLst>
              <a:gd name="adj" fmla="val 13793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06070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Encoder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28416" y="11887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38728" y="1060704"/>
            <a:ext cx="1298448" cy="530352"/>
          </a:xfrm>
          <a:prstGeom prst="roundRect">
            <a:avLst>
              <a:gd name="adj" fmla="val 13793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060704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Embeddings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" y="171907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C5CAE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719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Arrangement 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(ordering)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19656" y="1865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29968" y="1719072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1719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Position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Encodings pk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520440" y="1700784"/>
            <a:ext cx="402336" cy="402336"/>
          </a:xfrm>
          <a:prstGeom prst="ellipse">
            <a:avLst/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28416" y="1865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50208" y="17190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e_pi(k) + pk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for each position 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0" y="2157984"/>
            <a:ext cx="0" cy="237744"/>
          </a:xfrm>
          <a:prstGeom prst="line">
            <a:avLst/>
          </a:prstGeom>
          <a:noFill/>
          <a:ln w="15240">
            <a:solidFill>
              <a:srgbClr val="3B73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395728"/>
            <a:ext cx="4480560" cy="475488"/>
          </a:xfrm>
          <a:prstGeom prst="roundRect">
            <a:avLst>
              <a:gd name="adj" fmla="val 15385"/>
            </a:avLst>
          </a:prstGeom>
          <a:solidFill>
            <a:srgbClr val="D2E3FC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3957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Transformer Encoder   12 layers · 768 hidden dims · 12 heads · ~110M params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353312" y="2871216"/>
            <a:ext cx="0" cy="164592"/>
          </a:xfrm>
          <a:prstGeom prst="line">
            <a:avLst/>
          </a:prstGeom>
          <a:noFill/>
          <a:ln w="13970">
            <a:solidFill>
              <a:srgbClr val="2E7D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2871216"/>
            <a:ext cx="0" cy="164592"/>
          </a:xfrm>
          <a:prstGeom prst="line">
            <a:avLst/>
          </a:prstGeom>
          <a:noFill/>
          <a:ln w="1397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035808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358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[CLS]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-&gt; u-hat  (list utility)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0" y="3035808"/>
            <a:ext cx="1938528" cy="457200"/>
          </a:xfrm>
          <a:prstGeom prst="roundRect">
            <a:avLst>
              <a:gd name="adj" fmla="val 16000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03580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Item tokens (k)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-&gt; y-hat_k  (per-item click)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" y="3584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Eq. 4:  g(q, {xl}, pi; phi) = sigma( v-T · Enc_CLS({e_pi(k) + pk}) 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" y="3913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After training: freeze phi   -&gt;   reward model becomes fixed oracle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03520" y="658368"/>
            <a:ext cx="3630168" cy="1901952"/>
          </a:xfrm>
          <a:prstGeom prst="roundRect">
            <a:avLst>
              <a:gd name="adj" fmla="val 4808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58968" y="7223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73D4"/>
                </a:solidFill>
              </a:rPr>
              <a:t>RewardLoss  (Equation 3)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58968" y="1005840"/>
            <a:ext cx="3337560" cy="13716"/>
          </a:xfrm>
          <a:prstGeom prst="rect">
            <a:avLst/>
          </a:prstGeom>
          <a:solidFill>
            <a:srgbClr val="3B73D4">
              <a:alpha val="45000"/>
            </a:srgbClr>
          </a:solidFill>
          <a:ln w="12700">
            <a:solidFill>
              <a:srgbClr val="3B73D4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58968" y="1060704"/>
            <a:ext cx="33375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RewardLoss(phi) =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-(1/N) * SUM_i [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u_i * log(u-hat_i)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(1-u_i) * log(1-u-hat_i)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 cross-entropy on list-level utility.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in {0,1}: purchased from this arrangement?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0" y="2670048"/>
            <a:ext cx="3630168" cy="2176272"/>
          </a:xfrm>
          <a:prstGeom prst="roundRect">
            <a:avLst>
              <a:gd name="adj" fmla="val 4202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58968" y="27340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ItemLoss — Auxiliary  (Equation 6)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58968" y="3017520"/>
            <a:ext cx="3337560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58968" y="3072384"/>
            <a:ext cx="33375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ItemLoss(phi) =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-(1/SUM L_i) * SUM_i SUM_k [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y_i_pi(k) * log(y-hat_ik)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(1-y) * log(1-y-hat_ik)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Per-position click prediction — richer signal.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Applied to zero-purchase sessions too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salvages otherwise discarded data.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Ranker Reward Maximization via SoftSort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705088" cy="1517904"/>
          </a:xfrm>
          <a:prstGeom prst="roundRect">
            <a:avLst>
              <a:gd name="adj" fmla="val 6024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132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73D4"/>
                </a:solidFill>
              </a:rPr>
              <a:t>End-to-End Training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D2E3FC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Unordered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Query Group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45336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46504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C5CAE9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Ranker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Transformer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-&gt; scores {sl}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71800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SoftSort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Pi(tau) matrix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(Eq. 8)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98264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99432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Soft Item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Embeddings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e-tilde_k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24728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Frozen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Reward Model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-&gt; g-hat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51192" y="12527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978408"/>
            <a:ext cx="1298448" cy="804672"/>
          </a:xfrm>
          <a:prstGeom prst="roundRect">
            <a:avLst>
              <a:gd name="adj" fmla="val 9091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978408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Maximize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Reward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(Eq. 12)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1883664"/>
            <a:ext cx="7589520" cy="0"/>
          </a:xfrm>
          <a:prstGeom prst="line">
            <a:avLst/>
          </a:prstGeom>
          <a:noFill/>
          <a:ln w="15240">
            <a:solidFill>
              <a:srgbClr val="C6282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" y="189280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62828"/>
                </a:solidFill>
              </a:rPr>
              <a:t>&lt;-  gradient flows back through SoftSort to ranker weights  (backpropagation)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240280"/>
            <a:ext cx="2788920" cy="2624328"/>
          </a:xfrm>
          <a:prstGeom prst="roundRect">
            <a:avLst>
              <a:gd name="adj" fmla="val 3484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3042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</a:rPr>
              <a:t>SoftSort  (Equation 8)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596896"/>
            <a:ext cx="2523744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633472"/>
            <a:ext cx="2523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Π(τ)ₖℓ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exp(-|sℓ - sπ(k)| / τ)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--------------------------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Σₗ’ exp(-|sₗ’ - sπ(k)| / τ)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k = soft prob. dist. over items.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593592"/>
            <a:ext cx="2523744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21024"/>
            <a:ext cx="25237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0.5  (temperature)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→ 0 :  approaches hard sort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→ ∞:  fully smooth, no signal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0.5:  best tradeoff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40964" y="2240280"/>
            <a:ext cx="2788920" cy="2624328"/>
          </a:xfrm>
          <a:prstGeom prst="roundRect">
            <a:avLst>
              <a:gd name="adj" fmla="val 3484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23042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Soft Embeddings  (Eq. 10)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2596896"/>
            <a:ext cx="2523744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2633472"/>
            <a:ext cx="2523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ẽ(τ)_k = Σ_l  Π(τ)_kl · 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Convex combination of item embeddings.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Differentiable w.r.t. ranker scores.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91840" y="3419856"/>
            <a:ext cx="2523744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34564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Ranker Loss  (Eq. 12)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3749040"/>
            <a:ext cx="2523744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785616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RankerLoss(θ)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-(1/N) × Σ_i  ĝ_i(θ)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 average predicted utility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over the training set.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53328" y="2240280"/>
            <a:ext cx="2697480" cy="2624328"/>
          </a:xfrm>
          <a:prstGeom prst="roundRect">
            <a:avLst>
              <a:gd name="adj" fmla="val 3484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81344" y="23042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</a:rPr>
              <a:t>Misspecification  (Eq. 13)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81344" y="2596896"/>
            <a:ext cx="2450592" cy="13716"/>
          </a:xfrm>
          <a:prstGeom prst="rect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2633472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RankerLoss(λ)(θ)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-(1/N)×Σ_i  w_i·ĝ_i(θ)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 = 1 - λ|u_i - û_i|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w_i ∈ [0,1]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= 0.7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81344" y="3767328"/>
            <a:ext cx="2450592" cy="13716"/>
          </a:xfrm>
          <a:prstGeom prst="rect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3803904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reward model badly wrong on a session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lower w_i -&gt; down-weight it.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but stable. Prevents reward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errors from misguiding the ranker.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Frameworks: PO-Eval &amp; LAU-Eval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705088" cy="45720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13232"/>
            <a:ext cx="8394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Cannot run live A/B tests in a research paper. Need offline proxies that simulate what real users would do — honestly and reproducibly.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8600" y="1207008"/>
            <a:ext cx="4315968" cy="3749040"/>
          </a:xfrm>
          <a:prstGeom prst="roundRect">
            <a:avLst>
              <a:gd name="adj" fmla="val 2439"/>
            </a:avLst>
          </a:prstGeom>
          <a:solidFill>
            <a:srgbClr val="E1F5FE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2710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95C"/>
                </a:solidFill>
              </a:rPr>
              <a:t>PO-Eval   (Parametric Oracle)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5453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Dataset: Baidu-ULTR  (1.8M sessions)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D2E3FC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Ranker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arrangement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09344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IPS Oracle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click model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35808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Utility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Pr(#Clicks&gt;=1)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242316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prob at position l: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P(C) = P(El) * sigma(Rq,i)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P(El): {1:1.00, 2:0.67, 3:0.41, 4:0.29, ...}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utility (Eq. 17):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U_IPS = 1 - PROD_l (1 - P(El)*sigma(Rq,i))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7033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5C"/>
                </a:solidFill>
              </a:rPr>
              <a:t>Key metric:  Pr(#Clicks &gt;= 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" y="3968496"/>
            <a:ext cx="1874520" cy="329184"/>
          </a:xfrm>
          <a:prstGeom prst="roundRect">
            <a:avLst>
              <a:gd name="adj" fmla="val 27778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Statistically clean · Reproducible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67712" y="3968496"/>
            <a:ext cx="2176272" cy="329184"/>
          </a:xfrm>
          <a:prstGeom prst="roundRect">
            <a:avLst>
              <a:gd name="adj" fmla="val 27778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331720" y="399592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Position bias only — ignores brand/color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207008"/>
            <a:ext cx="4224528" cy="3749040"/>
          </a:xfrm>
          <a:prstGeom prst="roundRect">
            <a:avLst>
              <a:gd name="adj" fmla="val 2439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12710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</a:rPr>
              <a:t>LAU-Eval   (LLM-As-User)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64608" y="15453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Dataset: Amazon KDD-Cup  (130K queries)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D2E3FC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Ranker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arrangement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98464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FEEFC3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Claude 3.5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Sonnet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(LLM shopper)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24928" y="19568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-&gt;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26096" y="1792224"/>
            <a:ext cx="1207008" cy="548640"/>
          </a:xfrm>
          <a:prstGeom prst="roundRect">
            <a:avLst>
              <a:gd name="adj" fmla="val 13333"/>
            </a:avLst>
          </a:prstGeom>
          <a:solidFill>
            <a:srgbClr val="CEEAD6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179222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D(purchase)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</a:rPr>
              <a:t>in {0,1}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64608" y="242316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simulates 5 behavioral biases: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Position bias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Brand bias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Irrelevance bias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Color bias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Similarity aversion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binary purchase decision per ranked list.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64608" y="370332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Key metric:  Pr(#Purchases &gt;= 1)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968496"/>
            <a:ext cx="1874520" cy="329184"/>
          </a:xfrm>
          <a:prstGeom prst="roundRect">
            <a:avLst>
              <a:gd name="adj" fmla="val 27778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6460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32"/>
                </a:solidFill>
              </a:rPr>
              <a:t>Richer behavioral patterns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48272" y="3968496"/>
            <a:ext cx="2084832" cy="329184"/>
          </a:xfrm>
          <a:prstGeom prst="roundRect">
            <a:avLst>
              <a:gd name="adj" fmla="val 27778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39959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2828"/>
                </a:solidFill>
              </a:rPr>
              <a:t>Depends on LLM quality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  (Tables 1 &amp; 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658368"/>
            <a:ext cx="8705088" cy="402336"/>
          </a:xfrm>
          <a:prstGeom prst="roundRect">
            <a:avLst>
              <a:gd name="adj" fmla="val 22727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71323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</a:rPr>
              <a:t>Key Finding:  High NDCG does NOT reliably translate into higher true user utility — proven empirically across two independent evaluation frameworks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1152144"/>
            <a:ext cx="8705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Table 1 — Counterfactual vs. Surrogate Metrics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8705088" cy="2359152"/>
        </p:xfrm>
        <a:graphic>
          <a:graphicData uri="http://schemas.openxmlformats.org/drawingml/2006/table">
            <a:tbl>
              <a:tblPr/>
              <a:tblGrid>
                <a:gridCol w="1481328"/>
                <a:gridCol w="1719072"/>
                <a:gridCol w="1444752"/>
                <a:gridCol w="1737360"/>
                <a:gridCol w="1408176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Pr(#Clicks&gt;=1)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[Counterfactual]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NDCG_click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[Surrogate]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Pr(#Purchase&gt;=1)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[Counterfactual]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NDCG_purch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[Surrogate]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Upper-Bound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Policy in data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ListNet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0.376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ListMLE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LambdaRank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0.378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PiRank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0.378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0.528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URCC*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0.462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0.471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PG-rank*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0.501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0.489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RewardRank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0.536 BEST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0.370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0.561 BEST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0.401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28600" y="3858768"/>
            <a:ext cx="4956048" cy="1005840"/>
          </a:xfrm>
          <a:prstGeom prst="roundRect">
            <a:avLst>
              <a:gd name="adj" fmla="val 9091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39227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</a:rPr>
              <a:t>Table 2 — Baidu-ULTR Real User Clicks  (SOTA)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" y="4215384"/>
            <a:ext cx="4663440" cy="13716"/>
          </a:xfrm>
          <a:prstGeom prst="rect">
            <a:avLst/>
          </a:prstGeom>
          <a:solidFill>
            <a:srgbClr val="00695C">
              <a:alpha val="45000"/>
            </a:srgbClr>
          </a:solidFill>
          <a:ln w="12700">
            <a:solidFill>
              <a:srgbClr val="00695C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427024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LambdaRank:   DCG@5 = 5.45   |   DCG@10 = 8.23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PiRank:           DCG@5 = 5.23   |   DCG@10 = 8.01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RewardRank:   DCG@5 = 5.83   |   DCG@10 = 8.42   &lt;- NEW SOTA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76672" y="3858768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32120" y="39227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Noteworthy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32120" y="4215384"/>
            <a:ext cx="3273552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4270248"/>
            <a:ext cx="3273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click signals — NOT relevance labels.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achieves best relevance DCG.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true utility generalizes to relevance.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RewardRank  |  Ajaz Hussain (DA25M006)  |  IIT Madras MTP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41248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NDCG is not True Utility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1261872"/>
            <a:ext cx="2560320" cy="13716"/>
          </a:xfrm>
          <a:prstGeom prst="rect">
            <a:avLst/>
          </a:prstGeom>
          <a:solidFill>
            <a:srgbClr val="C62828">
              <a:alpha val="45000"/>
            </a:srgbClr>
          </a:solidFill>
          <a:ln w="12700">
            <a:solidFill>
              <a:srgbClr val="C62828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3441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Empirically proven across PO-Eval and LAU-Eval. High NDCG does not mean more clicks or purchases.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7315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EBF2FF"/>
          </a:solidFill>
          <a:ln w="15240">
            <a:solidFill>
              <a:srgbClr val="3B73D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841248"/>
            <a:ext cx="384048" cy="384048"/>
          </a:xfrm>
          <a:prstGeom prst="ellipse">
            <a:avLst/>
          </a:prstGeom>
          <a:solidFill>
            <a:srgbClr val="3B73D4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49040" y="868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73D4"/>
                </a:solidFill>
              </a:rPr>
              <a:t>Two-Stage Framework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1261872"/>
            <a:ext cx="2560320" cy="13716"/>
          </a:xfrm>
          <a:prstGeom prst="rect">
            <a:avLst/>
          </a:prstGeom>
          <a:solidFill>
            <a:srgbClr val="3B73D4">
              <a:alpha val="45000"/>
            </a:srgbClr>
          </a:solidFill>
          <a:ln w="12700">
            <a:solidFill>
              <a:srgbClr val="3B73D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3441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Stage 1 learns a reward model from logged data. Stage 2 trains a ranker to maximize that reward — end-to-end.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7315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FFF8E1"/>
          </a:solidFill>
          <a:ln w="15240">
            <a:solidFill>
              <a:srgbClr val="E651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84124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868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SoftSort Bridges the Gap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36792" y="1261872"/>
            <a:ext cx="2560320" cy="13716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3441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Replaces hard discrete sort with a differentiable soft permutation matrix. Gradients flow from reward all the way back to ranker weights.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889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F3E5F5"/>
          </a:solidFill>
          <a:ln w="15240">
            <a:solidFill>
              <a:srgbClr val="6A1B9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" y="289864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2926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</a:rPr>
              <a:t>Misspecification Correction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" y="3319272"/>
            <a:ext cx="2560320" cy="13716"/>
          </a:xfrm>
          <a:prstGeom prst="rect">
            <a:avLst/>
          </a:prstGeom>
          <a:solidFill>
            <a:srgbClr val="6A1B9A">
              <a:alpha val="45000"/>
            </a:srgbClr>
          </a:solidFill>
          <a:ln w="12700">
            <a:solidFill>
              <a:srgbClr val="6A1B9A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4015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w_i = 1 - lambda * |u_i - u-hat_i| down-weights sessions where reward model is unreliable. Pessimistic but stable.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7889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E0F2F1"/>
          </a:solidFill>
          <a:ln w="15240">
            <a:solidFill>
              <a:srgbClr val="0069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0128" y="289864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749040" y="2926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</a:rPr>
              <a:t>New SOTA on Baidu-ULTR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64992" y="3319272"/>
            <a:ext cx="2560320" cy="13716"/>
          </a:xfrm>
          <a:prstGeom prst="rect">
            <a:avLst/>
          </a:prstGeom>
          <a:solidFill>
            <a:srgbClr val="00695C">
              <a:alpha val="45000"/>
            </a:srgbClr>
          </a:solidFill>
          <a:ln w="12700">
            <a:solidFill>
              <a:srgbClr val="00695C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34015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DCG@5 = 5.83, DCG@10 = 8.42 on human-assigned relevance labels never seen during training. Generalizes beyond its own objective.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72200" y="2788920"/>
            <a:ext cx="2852928" cy="1938528"/>
          </a:xfrm>
          <a:prstGeom prst="roundRect">
            <a:avLst>
              <a:gd name="adj" fmla="val 4717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81928" y="289864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20840" y="29260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No Pretrained Ranker Needed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36792" y="3319272"/>
            <a:ext cx="2560320" cy="13716"/>
          </a:xfrm>
          <a:prstGeom prst="rect">
            <a:avLst/>
          </a:prstGeom>
          <a:solidFill>
            <a:srgbClr val="2E7D32">
              <a:alpha val="45000"/>
            </a:srgbClr>
          </a:solidFill>
          <a:ln w="12700">
            <a:solidFill>
              <a:srgbClr val="2E7D32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3401568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Unlike URCC*, RewardRank needs no warm-start. Zero-purchase sessions contribute via ItemLoss.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2026-07-05T16:35:42Z</dcterms:created>
  <dcterms:modified xsi:type="dcterms:W3CDTF">2026-07-05T16:35:42Z</dcterms:modified>
</cp:coreProperties>
</file>