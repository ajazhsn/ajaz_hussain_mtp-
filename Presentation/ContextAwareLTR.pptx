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3657600" cy="3657600"/>
          </a:xfrm>
          <a:prstGeom prst="ellipse">
            <a:avLst/>
          </a:prstGeom>
          <a:solidFill>
            <a:srgbClr val="CADC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Learning to Rank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Self-Attention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Pobrotyn · Bartczak · Synowiec · Białobrzeski · Bojar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47088"/>
            <a:ext cx="4572000" cy="365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933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Allegro.pl ML Research     SIGIR eCom'20     arXiv: 2005.10084v4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Ajaz Hussain  (DA25M006)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 Presentation  ·  IIT Madras  ·  Supervisor: Prof. Suryanarayana Sankagiri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92240" y="2697480"/>
            <a:ext cx="804672" cy="1005840"/>
          </a:xfrm>
          <a:prstGeom prst="roundRect">
            <a:avLst>
              <a:gd name="adj" fmla="val 5682"/>
            </a:avLst>
          </a:prstGeom>
          <a:solidFill>
            <a:srgbClr val="EBF2FF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2715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65392" y="2990088"/>
            <a:ext cx="658368" cy="9144"/>
          </a:xfrm>
          <a:prstGeom prst="rect">
            <a:avLst/>
          </a:prstGeom>
          <a:solidFill>
            <a:srgbClr val="3B73D4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3026664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88352" y="2697480"/>
            <a:ext cx="804672" cy="1005840"/>
          </a:xfrm>
          <a:prstGeom prst="roundRect">
            <a:avLst>
              <a:gd name="adj" fmla="val 5682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928" y="2715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61504" y="2990088"/>
            <a:ext cx="658368" cy="91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3026664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WEB30K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284464" y="2697480"/>
            <a:ext cx="804672" cy="1005840"/>
          </a:xfrm>
          <a:prstGeom prst="roundRect">
            <a:avLst>
              <a:gd name="adj" fmla="val 5682"/>
            </a:avLst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71576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57616" y="2990088"/>
            <a:ext cx="658368" cy="91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026664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NDCG@60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EBF2FF"/>
          </a:solidFill>
          <a:ln w="9525">
            <a:solidFill>
              <a:srgbClr val="3B73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5876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Motivation  →  Architecture  →  Datasets &amp; Setup  →  Results &amp; Ablation  →  Contributions &amp; Open Questions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LTR  |  Ajaz Hussain (DA25M006)  |  IIT Madras MTP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Context-Blind Scoring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LTR  |  Ajaz Hussain (DA25M006)  |  IIT Madras MTP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97680" cy="1783080"/>
          </a:xfrm>
          <a:prstGeom prst="roundRect">
            <a:avLst>
              <a:gd name="adj" fmla="val 3077"/>
            </a:avLst>
          </a:prstGeom>
          <a:solidFill>
            <a:srgbClr val="EB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31520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LTR Pipeline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005840"/>
            <a:ext cx="402336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60704"/>
            <a:ext cx="409651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LTR scores each item independently — f(xᵢ) has no knowledge of any other item xⱼ in the list.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Pairwise/listwise losses see the full list during training. But the scoring function remains context-blind at inference — creating a train-test inconsistency.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658368"/>
            <a:ext cx="4224528" cy="1783080"/>
          </a:xfrm>
          <a:prstGeom prst="roundRect">
            <a:avLst>
              <a:gd name="adj" fmla="val 3077"/>
            </a:avLst>
          </a:prstGeom>
          <a:solidFill>
            <a:srgbClr val="FFF8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731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Context Matters in E-Commerce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64608" y="1005840"/>
            <a:ext cx="39502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060704"/>
            <a:ext cx="402336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utility is relative, not absolute:</a:t>
            </a:r>
            <a:endParaRPr lang="en-US" sz="850" dirty="0"/>
          </a:p>
          <a:p>
            <a:pPr algn="l" indent="0" marL="0">
              <a:buNone/>
            </a:pP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 Price — ₹2,000 feels expensive next to ₹800 items; cheap next to ₹8,000 items.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Rating — 4.2★ feels strong near 3.8★ items; mediocre near 4.7★ items.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Speed — 3-day delivery looks slow when others offer next-day.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532888"/>
            <a:ext cx="8705088" cy="1005840"/>
          </a:xfrm>
          <a:prstGeom prst="roundRect">
            <a:avLst>
              <a:gd name="adj" fmla="val 5455"/>
            </a:avLst>
          </a:prstGeom>
          <a:solidFill>
            <a:srgbClr val="FFEBEE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060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Gap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2880360"/>
            <a:ext cx="843076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35224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LTR:  f(xᵢ)  →  score sᵢ  →  sort by sᵢ  [item scored in isolation — no context]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paper:        f(x₁,...,xₙ)  →  context-enriched score sᵢ  →  sort  [every item aware of every other item]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3639312"/>
            <a:ext cx="8705088" cy="914400"/>
          </a:xfrm>
          <a:prstGeom prst="roundRect">
            <a:avLst>
              <a:gd name="adj" fmla="val 6000"/>
            </a:avLst>
          </a:prstGeom>
          <a:solidFill>
            <a:srgbClr val="F3E5F5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71246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Implication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986784"/>
            <a:ext cx="843076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04164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P(user chooses item i) depends on the full slate S, not just item i alone — IIA (Independence of Irrelevant Alternatives) is violated in real user behaviour.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effects (decoy, compromise, similarity aversion) are well-documented in e-commerce — standard LTR architectures cannot model them.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Architecture: Self-Attentive Ranker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LTR  |  Ajaz Hussain (DA25M006)  |  IIT Madras MTP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97680" cy="4187952"/>
          </a:xfrm>
          <a:prstGeom prst="roundRect">
            <a:avLst>
              <a:gd name="adj" fmla="val 1310"/>
            </a:avLst>
          </a:prstGeom>
          <a:solidFill>
            <a:srgbClr val="EB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31520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Model Pipeline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005840"/>
            <a:ext cx="402336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060704"/>
            <a:ext cx="4096512" cy="548640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78992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Item Features  xᵢ ∈ ℝᵈᶠ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335024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d_f = 136 (WEB30K)  ·  45 (Allegro.pl)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95728" y="1609344"/>
            <a:ext cx="7315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755648"/>
            <a:ext cx="4096512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73936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FC Projection  →  d_fc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02996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layer, same weights for every item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395728" y="2304288"/>
            <a:ext cx="7315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450592"/>
            <a:ext cx="4096512" cy="548640"/>
          </a:xfrm>
          <a:prstGeom prst="roundRect">
            <a:avLst>
              <a:gd name="adj" fmla="val 8333"/>
            </a:avLst>
          </a:prstGeom>
          <a:solidFill>
            <a:srgbClr val="FFF8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6888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+ Positional Encoding 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72491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re-ranking setting: sine/cosine fixed PE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95728" y="2999232"/>
            <a:ext cx="7315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145536"/>
            <a:ext cx="4096512" cy="548640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63824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Encoder Block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419856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 + FFN + skip + LayerNorm + Dropout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395728" y="3694176"/>
            <a:ext cx="73152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840480"/>
            <a:ext cx="4096512" cy="54864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58768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Scoring FC  →  sᵢ ∈ ℝ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scalar relevance score per item → sort descending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09160" y="658368"/>
            <a:ext cx="4224528" cy="4187952"/>
          </a:xfrm>
          <a:prstGeom prst="roundRect">
            <a:avLst>
              <a:gd name="adj" fmla="val 1310"/>
            </a:avLst>
          </a:prstGeom>
          <a:solidFill>
            <a:srgbClr val="E0F2F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731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Encoder Block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64608" y="1005840"/>
            <a:ext cx="39502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1060704"/>
            <a:ext cx="4023360" cy="475488"/>
          </a:xfrm>
          <a:prstGeom prst="roundRect">
            <a:avLst>
              <a:gd name="adj" fmla="val 9615"/>
            </a:avLst>
          </a:prstGeom>
          <a:solidFill>
            <a:srgbClr val="CADCFC"/>
          </a:solidFill>
          <a:ln w="9525">
            <a:solidFill>
              <a:srgbClr val="3B73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060704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Attention(Q,K,V) = softmax( QKᵀ / √d_model ) · V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64608" y="1609344"/>
            <a:ext cx="40233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1664208"/>
            <a:ext cx="3877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QKᵀ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56048" y="1901952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 of every query with every key → n×n matrix of raw attention scores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64608" y="2377440"/>
            <a:ext cx="40233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2432304"/>
            <a:ext cx="3877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÷ √d_model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56048" y="2670048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prevent vanishing gradients when d_model is large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64608" y="3145536"/>
            <a:ext cx="40233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200400"/>
            <a:ext cx="3877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softmax (row-wise)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56048" y="3438144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row to a probability distribution — how much item i attends to item j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64608" y="3913632"/>
            <a:ext cx="402336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56048" y="3968496"/>
            <a:ext cx="3877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× V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56048" y="4206240"/>
            <a:ext cx="387705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of all value vectors → context-enriched representation for each item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28600" y="4800600"/>
            <a:ext cx="8686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Permutation-equivariant (no PE) · Position-aware for re-ranking (with PE) · Best config: N=4, H=2, d_h=512, p_drop=0.4, ~950K params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Datasets, Losses &amp; Experimental Setup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LTR  |  Ajaz Hussain (DA25M006)  |  IIT Madras MTP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EB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31520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1 — MSLR-WEB30K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005840"/>
            <a:ext cx="402336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607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26464" y="10607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with associated document lists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26464" y="1371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136-dimensional real-valued vector per doc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6824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26464" y="16824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multi-level (human curated)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19933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426464" y="19933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(3 train / 1 val / 1 test)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2304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426464" y="23042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(no PE) + Re-ranking (with PE)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658368"/>
            <a:ext cx="4224528" cy="2103120"/>
          </a:xfrm>
          <a:prstGeom prst="roundRect">
            <a:avLst>
              <a:gd name="adj" fmla="val 2609"/>
            </a:avLst>
          </a:prstGeom>
          <a:solidFill>
            <a:srgbClr val="E0F2F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731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2 — Allegro.pl Click Logs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64608" y="1005840"/>
            <a:ext cx="39502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0607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07024" y="1060704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lists, max length 60 items each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64608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07024" y="137160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45-dimensional real-valued vector per item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64608" y="16824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07024" y="1682496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(clicked=1, not clicked=0)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64608" y="19933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07024" y="1993392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lists have exactly one clicked item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64608" y="2304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07024" y="2304288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over XGBoost production ranker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" y="2852928"/>
            <a:ext cx="8705088" cy="1993392"/>
          </a:xfrm>
          <a:prstGeom prst="roundRect">
            <a:avLst>
              <a:gd name="adj" fmla="val 2752"/>
            </a:avLst>
          </a:prstGeom>
          <a:solidFill>
            <a:srgbClr val="FFF8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9260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Functions Evaluated  —  same architecture, different losses: tests whether gains are loss-agnostic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4048" y="3200400"/>
            <a:ext cx="843076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255264"/>
            <a:ext cx="2029968" cy="1463040"/>
          </a:xfrm>
          <a:prstGeom prst="roundRect">
            <a:avLst>
              <a:gd name="adj" fmla="val 3125"/>
            </a:avLst>
          </a:prstGeom>
          <a:solidFill>
            <a:srgbClr val="E0F2F1"/>
          </a:solidFill>
          <a:ln w="9525">
            <a:solidFill>
              <a:srgbClr val="006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310128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Pointwise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" y="3547872"/>
            <a:ext cx="1847088" cy="914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60273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RMSE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" y="39136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Ordinal Loss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05456" y="3255264"/>
            <a:ext cx="2029968" cy="1463040"/>
          </a:xfrm>
          <a:prstGeom prst="roundRect">
            <a:avLst>
              <a:gd name="adj" fmla="val 3125"/>
            </a:avLst>
          </a:prstGeom>
          <a:solidFill>
            <a:srgbClr val="EBF2FF"/>
          </a:solidFill>
          <a:ln w="9525">
            <a:solidFill>
              <a:srgbClr val="3B73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96896" y="3310128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Pairwise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96896" y="3547872"/>
            <a:ext cx="1847088" cy="9144"/>
          </a:xfrm>
          <a:prstGeom prst="rect">
            <a:avLst/>
          </a:prstGeom>
          <a:solidFill>
            <a:srgbClr val="3B73D4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96896" y="360273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RankNet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96896" y="39136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LambdaRank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596896" y="4224528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NDCGLoss 2++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26864" y="3255264"/>
            <a:ext cx="2029968" cy="1463040"/>
          </a:xfrm>
          <a:prstGeom prst="roundRect">
            <a:avLst>
              <a:gd name="adj" fmla="val 3125"/>
            </a:avLst>
          </a:prstGeom>
          <a:solidFill>
            <a:srgbClr val="F3E5F5"/>
          </a:solidFill>
          <a:ln w="9525">
            <a:solidFill>
              <a:srgbClr val="6A1B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310128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Listwise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18304" y="3547872"/>
            <a:ext cx="1847088" cy="914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60273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ListNet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18304" y="39136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ListMLE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748272" y="3255264"/>
            <a:ext cx="2029968" cy="1463040"/>
          </a:xfrm>
          <a:prstGeom prst="roundRect">
            <a:avLst>
              <a:gd name="adj" fmla="val 3125"/>
            </a:avLst>
          </a:prstGeom>
          <a:solidFill>
            <a:srgbClr val="FFEB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39712" y="3310128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39712" y="3547872"/>
            <a:ext cx="1847088" cy="914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39712" y="3602736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XGBoost rank:pairwise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839712" y="391363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MLP (matched params)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 &amp; Ablation Study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LTR  |  Ajaz Hussain (DA25M006)  |  IIT Madras MTP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658368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EB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731520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WEB30K — NDCG@5  (5-fold cross-validation)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005840"/>
            <a:ext cx="48463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060704"/>
            <a:ext cx="1664208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060704"/>
            <a:ext cx="16093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21408" y="1060704"/>
            <a:ext cx="804672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67128" y="1060704"/>
            <a:ext cx="749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90088" y="1060704"/>
            <a:ext cx="749808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1060704"/>
            <a:ext cx="694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813048" y="1060704"/>
            <a:ext cx="77724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1060704"/>
            <a:ext cx="722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gain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1280160"/>
            <a:ext cx="49194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129844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Loss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67128" y="129844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53.00 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35808" y="129844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48.84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58768" y="1298448"/>
            <a:ext cx="72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+4.16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1591056"/>
            <a:ext cx="4919472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1609344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NDCGLoss 2++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67128" y="160934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35808" y="160934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49.15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58768" y="1609344"/>
            <a:ext cx="72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+3.50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" y="1901952"/>
            <a:ext cx="49194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1920240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ListNet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67128" y="1920240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35808" y="1920240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47.81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58768" y="1920240"/>
            <a:ext cx="72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4048" y="2212848"/>
            <a:ext cx="4919472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223113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LambdaRank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67128" y="2231136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52.29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35808" y="223113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858768" y="2231136"/>
            <a:ext cx="72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+3.52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4048" y="2523744"/>
            <a:ext cx="49194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254203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167128" y="254203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35808" y="2542032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58768" y="2542032"/>
            <a:ext cx="72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+3.50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84048" y="2834640"/>
            <a:ext cx="4919472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2852928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RankNet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167128" y="2852928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035808" y="2852928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858768" y="2852928"/>
            <a:ext cx="72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84048" y="3145536"/>
            <a:ext cx="491947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3163824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167128" y="3163824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035808" y="3163824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858768" y="3163824"/>
            <a:ext cx="722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28600" y="3557016"/>
            <a:ext cx="512064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3575304"/>
            <a:ext cx="4919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9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Worst self-attention model (50.79) still beats best MLP (49.15)  →  Architecture matters more than loss choice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28600" y="4005072"/>
            <a:ext cx="5120640" cy="822960"/>
          </a:xfrm>
          <a:prstGeom prst="roundRect">
            <a:avLst>
              <a:gd name="adj" fmla="val 6667"/>
            </a:avLst>
          </a:prstGeom>
          <a:solidFill>
            <a:srgbClr val="EB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078224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Logs — NDCG@60 relative gain vs XGBoost  (Self-Attention vs MLP)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4048" y="4352544"/>
            <a:ext cx="484632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4048" y="4407408"/>
            <a:ext cx="116128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3B73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0624" y="4425696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NDCGLoss2++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20624" y="4553712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+3.00%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20624" y="4672584"/>
            <a:ext cx="108813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+1.51%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609344" y="4407408"/>
            <a:ext cx="116128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3B73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45920" y="4425696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LambdaRank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645920" y="4553712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+2.97%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645920" y="4672584"/>
            <a:ext cx="108813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+1.39%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834640" y="4407408"/>
            <a:ext cx="116128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3B73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71216" y="4425696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ListNet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2871216" y="4553712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+2.93%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871216" y="4672584"/>
            <a:ext cx="108813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+1.24%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059936" y="4407408"/>
            <a:ext cx="116128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3B73D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96512" y="4425696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RankNet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096512" y="4553712"/>
            <a:ext cx="1088136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+2.68%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096512" y="4672584"/>
            <a:ext cx="1088136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+1.19%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532120" y="658368"/>
            <a:ext cx="3401568" cy="2834640"/>
          </a:xfrm>
          <a:prstGeom prst="roundRect">
            <a:avLst>
              <a:gd name="adj" fmla="val 1935"/>
            </a:avLst>
          </a:prstGeom>
          <a:solidFill>
            <a:srgbClr val="FFF8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87568" y="731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— NDCG@5 on WEB30K (Fold 1, Ordinal Loss)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687568" y="1005840"/>
            <a:ext cx="312724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87568" y="1060704"/>
            <a:ext cx="1335024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24144" y="1060704"/>
            <a:ext cx="1289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077456" y="1060704"/>
            <a:ext cx="658368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114032" y="1060704"/>
            <a:ext cx="6126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7790688" y="1060704"/>
            <a:ext cx="841248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27264" y="1060704"/>
            <a:ext cx="795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687568" y="1280160"/>
            <a:ext cx="3200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24144" y="1307592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7114032" y="1307592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N=4,H=2,d=512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7827264" y="1307592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52.64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687568" y="1591056"/>
            <a:ext cx="32004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24144" y="1618488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H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7114032" y="1618488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4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827264" y="1618488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52.44 → 52.59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5687568" y="1901952"/>
            <a:ext cx="3200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24144" y="1929384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N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7114032" y="1929384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4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7827264" y="1929384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50.62 → 52.64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687568" y="2212848"/>
            <a:ext cx="32004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724144" y="2240280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7114032" y="2240280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1024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827264" y="2240280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51.58 → 52.86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5687568" y="2523744"/>
            <a:ext cx="3200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724144" y="2551176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114032" y="2551176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 (none)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7827264" y="2551176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42.18 ⚠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5687568" y="2834640"/>
            <a:ext cx="320040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24144" y="2862072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7114032" y="2862072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→ 0.5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7827264" y="2862072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51.22 → 52.26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5687568" y="3145536"/>
            <a:ext cx="3200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24144" y="3172968"/>
            <a:ext cx="1289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len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7114032" y="3172968"/>
            <a:ext cx="6126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→ 240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7827264" y="3172968"/>
            <a:ext cx="795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50.94 → 52.78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5532120" y="3584448"/>
            <a:ext cx="3401568" cy="402336"/>
          </a:xfrm>
          <a:prstGeom prst="roundRect">
            <a:avLst>
              <a:gd name="adj" fmla="val 11364"/>
            </a:avLst>
          </a:prstGeom>
          <a:solidFill>
            <a:srgbClr val="EBF2FF"/>
          </a:solidFill>
          <a:ln w="9525">
            <a:solidFill>
              <a:srgbClr val="3B73D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05272" y="3621024"/>
            <a:ext cx="32552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7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blocks → better context: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5605272" y="3776472"/>
            <a:ext cx="3218688" cy="4572"/>
          </a:xfrm>
          <a:prstGeom prst="rect">
            <a:avLst/>
          </a:prstGeom>
          <a:solidFill>
            <a:srgbClr val="3B73D4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05272" y="3794760"/>
            <a:ext cx="325526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N=1→4 improves steadily. Hierarchical layers capture higher-order inter-item dependencies.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5532120" y="4005072"/>
            <a:ext cx="3401568" cy="402336"/>
          </a:xfrm>
          <a:prstGeom prst="roundRect">
            <a:avLst>
              <a:gd name="adj" fmla="val 11364"/>
            </a:avLst>
          </a:prstGeom>
          <a:solidFill>
            <a:srgbClr val="FFEBEE"/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605272" y="4041648"/>
            <a:ext cx="32552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is non-negotiable: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5605272" y="4197096"/>
            <a:ext cx="3218688" cy="45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605272" y="4215384"/>
            <a:ext cx="325526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 collapses to 42.18. Self-attention over-fits severely without regularisation.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532120" y="4425696"/>
            <a:ext cx="3401568" cy="402336"/>
          </a:xfrm>
          <a:prstGeom prst="roundRect">
            <a:avLst>
              <a:gd name="adj" fmla="val 11364"/>
            </a:avLst>
          </a:prstGeom>
          <a:solidFill>
            <a:srgbClr val="E8F5E9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05272" y="4462272"/>
            <a:ext cx="325526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training lists help: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5605272" y="4617720"/>
            <a:ext cx="3218688" cy="45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605272" y="4636008"/>
            <a:ext cx="3255264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l=30→240 improves steadily. Richer context at training = better attention weights.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Contributions, Implications &amp; Open Questions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LTR  |  Ajaz Hussain (DA25M006)  |  IIT Madras MTP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31520"/>
            <a:ext cx="285292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841248"/>
            <a:ext cx="384048" cy="384048"/>
          </a:xfrm>
          <a:prstGeom prst="ellipse">
            <a:avLst/>
          </a:prstGeom>
          <a:solidFill>
            <a:srgbClr val="3B73D4"/>
          </a:solidFill>
          <a:ln w="12700">
            <a:solidFill>
              <a:srgbClr val="3B73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8686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B7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Systematic Context-Aware LTR Study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" y="1261872"/>
            <a:ext cx="25786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316736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paper to evaluate context-aware scoring functions across ALL loss categories — pointwise, pairwise, listwise — on both curated and clickthrough data.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731520"/>
            <a:ext cx="285292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84124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8686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&gt; Loss Function Choice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64992" y="1261872"/>
            <a:ext cx="25786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316736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self-attention model (50.79) beats best MLP (49.15). Context-aware architecture drives more gain than any single choice of loss function.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731520"/>
            <a:ext cx="285292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841248"/>
            <a:ext cx="384048" cy="384048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841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8686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SOTA on MSLR-WEB30K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36792" y="1261872"/>
            <a:ext cx="25786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316736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 = 53.00 (+2.27% over prior best of 51.21 from LightGBM NDCGLoss 2++). Open-source: github.com/allegro/allRank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2788920"/>
            <a:ext cx="285292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2898648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29260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Merger Extension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" y="3319272"/>
            <a:ext cx="25786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374136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shows exactly where RewardRank's learned position bias slots in: replace fixed sine/cosine PE with principled click-behavior-grounded position representations.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2788920"/>
            <a:ext cx="285292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0128" y="2898648"/>
            <a:ext cx="384048" cy="38404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29260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Validates Scenario Hypothesis (Angle 2)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64992" y="3319272"/>
            <a:ext cx="25786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3374136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context effects are empirically real and large. No head-to-head web search vs. e-commerce comparison yet — this is the open empirical gap for your research.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72200" y="2788920"/>
            <a:ext cx="2852928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1928" y="2898648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20840" y="29260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Future Work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36792" y="3319272"/>
            <a:ext cx="2578608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3374136"/>
            <a:ext cx="2578608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pointwise ordinal loss beat NDCG-oriented losses? O(n²) complexity limits scalability. Fixed PE vs. learned position bias — which captures real user behaviour better?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2026-07-06T01:32:06Z</dcterms:created>
  <dcterms:modified xsi:type="dcterms:W3CDTF">2026-07-06T01:32:06Z</dcterms:modified>
</cp:coreProperties>
</file>